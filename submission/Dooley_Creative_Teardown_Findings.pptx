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ads</c:v>
                </c:pt>
              </c:strCache>
            </c:strRef>
          </c:tx>
          <c:dPt>
            <c:idx val="0"/>
            <c:spPr>
              <a:solidFill>
                <a:srgbClr val="C2410C"/>
              </a:solidFill>
            </c:spPr>
          </c:dPt>
          <c:dPt>
            <c:idx val="1"/>
            <c:spPr>
              <a:solidFill>
                <a:srgbClr val="697482"/>
              </a:solidFill>
            </c:spPr>
          </c:dPt>
          <c:dPt>
            <c:idx val="2"/>
            <c:spPr>
              <a:solidFill>
                <a:srgbClr val="697482"/>
              </a:solidFill>
            </c:spPr>
          </c:dPt>
          <c:dPt>
            <c:idx val="3"/>
            <c:spPr>
              <a:solidFill>
                <a:srgbClr val="697482"/>
              </a:solidFill>
            </c:spPr>
          </c:dPt>
          <c:dPt>
            <c:idx val="4"/>
            <c:spPr>
              <a:solidFill>
                <a:srgbClr val="1F2933"/>
              </a:solidFill>
            </c:spPr>
          </c:dPt>
          <c:dPt>
            <c:idx val="5"/>
            <c:spPr>
              <a:solidFill>
                <a:srgbClr val="1F2933"/>
              </a:solidFill>
            </c:spPr>
          </c:dPt>
          <c:dPt>
            <c:idx val="6"/>
            <c:spPr>
              <a:solidFill>
                <a:srgbClr val="1F2933"/>
              </a:solidFill>
            </c:spPr>
          </c:dPt>
          <c:dPt>
            <c:idx val="7"/>
            <c:spPr>
              <a:solidFill>
                <a:srgbClr val="1F2933"/>
              </a:solidFill>
            </c:spPr>
          </c:dPt>
          <c:cat>
            <c:strRef>
              <c:f>Sheet1!$A$2:$A$9</c:f>
              <c:strCache>
                <c:ptCount val="8"/>
                <c:pt idx="0">
                  <c:v>Community</c:v>
                </c:pt>
                <c:pt idx="1">
                  <c:v>Sustainability</c:v>
                </c:pt>
                <c:pt idx="2">
                  <c:v>Innovation</c:v>
                </c:pt>
                <c:pt idx="3">
                  <c:v>Price / Value</c:v>
                </c:pt>
                <c:pt idx="4">
                  <c:v>Style</c:v>
                </c:pt>
                <c:pt idx="5">
                  <c:v>Versatility</c:v>
                </c:pt>
                <c:pt idx="6">
                  <c:v>Comfort</c:v>
                </c:pt>
                <c:pt idx="7">
                  <c:v>Performance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14</c:v>
                </c:pt>
                <c:pt idx="3">
                  <c:v>34</c:v>
                </c:pt>
                <c:pt idx="4">
                  <c:v>36</c:v>
                </c:pt>
                <c:pt idx="5">
                  <c:v>51</c:v>
                </c:pt>
                <c:pt idx="6">
                  <c:v>58</c:v>
                </c:pt>
                <c:pt idx="7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DE4"/>
            </a:solidFill>
          </a:ln>
        </c:spPr>
        <c:txPr>
          <a:bodyPr/>
          <a:lstStyle/>
          <a:p>
            <a:pPr>
              <a:defRPr sz="1300">
                <a:solidFill>
                  <a:srgbClr val="1F29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Open on the finding, not an agenda. Twelve fitness apparel brands, what they are actually saying in Google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here. Three saturated claims, then the cliff. Community is 6 ads, 5 of them Gymshark. Do not explain method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seconds. If asked: no date filter was applied, so this is every text ad the Transparency Center listed that day, not a verified set of live ads. Does not change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shape is the argument. Four crowded claims, then a cliff. Community in orange at the bottom is where the deck is heading.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'is that just your sample?'. Two independent collections agree. Do not claim a trend from the second set: it is year-stratified, so its brand mix swings between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67% carry no hard evidence after the audited proof cleanup. Also in the corrected data: Under Armour runs price language in 86% of its ads. Ratings are the category default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Hostile question: has Gymshark not already won this? Answer: it owns the claim, not the proof — no numbers published, framed narrowly around the weight room, and ten brands ceded the 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Showing you caught your own false finding is the most credible thing in the deck and it inoculates you against anyone who checks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analytical section. These transfer to any competitive research, which is the point for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the lane, then take questions. Ready answers: how do you know the tags are right; why only Google search; why is Patagonia only three ads; isn't community just Gymshark's brand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8595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800"/>
              </a:lnSpc>
            </a:pPr>
            <a:r>
              <a:rPr sz="5400" b="1" i="0">
                <a:solidFill>
                  <a:srgbClr val="1F2933"/>
                </a:solidFill>
                <a:latin typeface="Cambria"/>
              </a:rPr>
              <a:t>Twelve brands.</a:t>
            </a:r>
          </a:p>
          <a:p>
            <a:pPr algn="l">
              <a:lnSpc>
                <a:spcPts val="5800"/>
              </a:lnSpc>
            </a:pPr>
            <a:r>
              <a:rPr sz="5400" b="1" i="0">
                <a:solidFill>
                  <a:srgbClr val="1F2933"/>
                </a:solidFill>
                <a:latin typeface="Cambria"/>
              </a:rPr>
              <a:t>One message.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44515F"/>
                </a:solidFill>
                <a:latin typeface="Calibri"/>
              </a:rPr>
              <a:t>A creative teardown of what fitness apparel actually says in paid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17720"/>
            <a:ext cx="137160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87375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2410C"/>
                </a:solidFill>
                <a:latin typeface="Calibri"/>
              </a:rPr>
              <a:t>101 text ads   ·   12 brands   ·   listed 12 August 2026   ·   replicated on a second 1,786-ad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Shane Dooley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97482"/>
                </a:solidFill>
                <a:latin typeface="Calibri"/>
              </a:rPr>
              <a:t>with Andrew Silver, Catherine Chambers, Jessica Smith, Jesse Padilla and William Levine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The category has run out of ways to say “comfortable”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2560320" cy="2331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1F2933"/>
                </a:solidFill>
                <a:latin typeface="Cambria"/>
              </a:rPr>
              <a:t>59%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claim technical</a:t>
            </a:r>
          </a:p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1568" y="2148840"/>
            <a:ext cx="2560320" cy="2331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1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1F2933"/>
                </a:solidFill>
                <a:latin typeface="Cambria"/>
              </a:rPr>
              <a:t>58%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1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claim comfort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2148840"/>
            <a:ext cx="2560320" cy="2331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1F2933"/>
                </a:solidFill>
                <a:latin typeface="Cambria"/>
              </a:rPr>
              <a:t>51%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claim gym-to-street</a:t>
            </a:r>
          </a:p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versatility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4544" y="2148840"/>
            <a:ext cx="2560320" cy="2331720"/>
          </a:xfrm>
          <a:prstGeom prst="rect">
            <a:avLst/>
          </a:prstGeom>
          <a:solidFill>
            <a:srgbClr val="FD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C2410C"/>
                </a:solidFill>
                <a:latin typeface="Cambria"/>
              </a:rPr>
              <a:t>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2410C"/>
                </a:solidFill>
                <a:latin typeface="Calibri"/>
              </a:rPr>
              <a:t>claim community</a:t>
            </a:r>
          </a:p>
          <a:p>
            <a:pPr algn="l"/>
            <a:r>
              <a:rPr sz="1300" b="0" i="0">
                <a:solidFill>
                  <a:srgbClr val="C2410C"/>
                </a:solidFill>
                <a:latin typeface="Calibri"/>
              </a:rPr>
              <a:t>or belonging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4515F"/>
                </a:solidFill>
                <a:latin typeface="Calibri"/>
              </a:rPr>
              <a:t>Across all twelve brands the language is near-interchangeable: “buttery soft,” “built to move in,” “looks as good as it feels.”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410C"/>
                </a:solidFill>
                <a:latin typeface="Calibri"/>
              </a:rPr>
              <a:t>Community and belonging is six ads in the entire set. Five of them are Gymshark’s.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101 text ads, twelve brands, one grid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0370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103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libri"/>
              </a:rP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Every search text ad the Google Ads Transparency Center listed for each brand on 12 August, transcribed by hand. Public source, no login, no scraping.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9242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291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libri"/>
              </a:rPr>
              <a:t>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91840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Claude tags each ad; tags are frozen to a file so numbers reproduce exactly. A teammate then audited all 101 rows and 42 corrections were applied.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98848"/>
            <a:ext cx="457200" cy="457200"/>
          </a:xfrm>
          <a:prstGeom prst="ellipse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8114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480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libri"/>
              </a:rPr>
              <a:t>Assemble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480560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Counts roll into a matrix as a percent of each brand’s ads, so brands sampled at different depths stay comparable.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42432"/>
            <a:ext cx="10911535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897880"/>
            <a:ext cx="103994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97482"/>
                </a:solidFill>
                <a:latin typeface="Calibri"/>
              </a:rPr>
              <a:t>lululemon 18  ·  On 12  ·  Arc’teryx 12  ·  Vuori 10  ·  Gymshark 10  ·  Alo Yoga 9  ·  Nike 8  ·  Under Armour 7  ·  Tracksmith 4  ·  New Balance 4  ·  Fabletics 4  ·  Patagonia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Where the category is stacked, and where it is not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965960"/>
          <a:ext cx="10911535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978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97482"/>
                </a:solidFill>
                <a:latin typeface="Calibri"/>
              </a:rPr>
              <a:t>Percent of all 101 ads using each claim theme. An ad can carry more than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INDEPENDENT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The finding holds on data we did not collect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3852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4515F"/>
                </a:solidFill>
                <a:latin typeface="Calibri"/>
              </a:rPr>
              <a:t>A teammate contributed 1,786 ads across eight brands, 2021 to 2026, gathered a different way. Four brands appear in both sets. Neither collector saw the other’s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7482"/>
                </a:solidFill>
                <a:latin typeface="Calibri"/>
              </a:rP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788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7482"/>
                </a:solidFill>
                <a:latin typeface="Calibri"/>
              </a:rPr>
              <a:t>ADS, 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788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7482"/>
                </a:solidFill>
                <a:latin typeface="Calibri"/>
              </a:rPr>
              <a:t>ADS, HARVESTED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788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7482"/>
                </a:solidFill>
                <a:latin typeface="Calibri"/>
              </a:rPr>
              <a:t>GAP, ALL THEMES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788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2410C"/>
                </a:solidFill>
                <a:latin typeface="Calibri"/>
              </a:rPr>
              <a:t>COMMUNITY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90672"/>
            <a:ext cx="10911535" cy="10972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lululemon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2186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186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244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186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6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2186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0% vs 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84448"/>
            <a:ext cx="10911535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9417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New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9417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69417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246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69417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6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69417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0% vs 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59936"/>
            <a:ext cx="10911535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96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Nike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1696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1696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227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1696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10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1696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0% vs 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535424"/>
            <a:ext cx="10911535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6451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Under Armour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6451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6451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153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6451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10 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6451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0% vs 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10912"/>
            <a:ext cx="10911535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120640" cy="960120"/>
          </a:xfrm>
          <a:prstGeom prst="rect">
            <a:avLst/>
          </a:prstGeom>
          <a:solidFill>
            <a:srgbClr val="FD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13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  <a:latin typeface="Cambria"/>
              </a:rPr>
              <a:t>0 to 4 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2410C"/>
                </a:solidFill>
                <a:latin typeface="Calibri"/>
              </a:rPr>
              <a:t>agreement on community, all four brands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492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Different collector. Different method. Different brands.</a:t>
            </a:r>
          </a:p>
          <a:p>
            <a:pPr algn="l">
              <a:lnSpc>
                <a:spcPts val="22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Different years. Same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THE SECOND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Two in three ads make a claim and prove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5029200" cy="2697480"/>
          </a:xfrm>
          <a:prstGeom prst="rect">
            <a:avLst/>
          </a:prstGeom>
          <a:solidFill>
            <a:srgbClr val="FD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C2410C"/>
                </a:solidFill>
                <a:latin typeface="Cambria"/>
              </a:rPr>
              <a:t>67%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of ads carry no hard evidence: no rating, review count, price or guarantee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Where proof does appear, it is wildly uneven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Alo Yoga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606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44515F"/>
                </a:solidFill>
                <a:latin typeface="Calibri"/>
              </a:rPr>
              <a:t>21,615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907792"/>
            <a:ext cx="5120640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Vuori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9718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44515F"/>
                </a:solidFill>
                <a:latin typeface="Calibri"/>
              </a:rPr>
              <a:t>13,593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273552"/>
            <a:ext cx="5120640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Nike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375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44515F"/>
                </a:solidFill>
                <a:latin typeface="Calibri"/>
              </a:rPr>
              <a:t>6,660 reviews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639312"/>
            <a:ext cx="5120640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Under Armour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03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44515F"/>
                </a:solidFill>
                <a:latin typeface="Calibri"/>
              </a:rPr>
              <a:t>305 reviews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005072"/>
            <a:ext cx="5120640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Arc’teryx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0690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410C"/>
                </a:solidFill>
                <a:latin typeface="Calibri"/>
              </a:rPr>
              <a:t>24 reviews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370832"/>
            <a:ext cx="5120640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3484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Tracksmith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4348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410C"/>
                </a:solidFill>
                <a:latin typeface="Calibri"/>
              </a:rPr>
              <a:t>22 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36592"/>
            <a:ext cx="5120640" cy="7315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A premium brand advertising on 22 reviews is not using proof. It is exposing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THE 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One brand owns belonging. Nobody else contests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3852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2410C"/>
                </a:solidFill>
                <a:latin typeface="Calibri"/>
              </a:rPr>
              <a:t>Community is uncontested territory, and even its owner does not prove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78608"/>
            <a:ext cx="3429000" cy="2560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What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4515F"/>
                </a:solidFill>
                <a:latin typeface="Calibri"/>
              </a:rPr>
              <a:t>Gymshark has made belonging half its message: coached couch-to-5K and half-marathon programmes. Alo has ALO Access. Everyone else: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2578608"/>
            <a:ext cx="3429000" cy="2560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8163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What is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27355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4515F"/>
                </a:solidFill>
                <a:latin typeface="Calibri"/>
              </a:rPr>
              <a:t>Neither publishes a participation number, a completion rate or a member count. The claim exists; the proof does not.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5" y="2578608"/>
            <a:ext cx="3429000" cy="2560320"/>
          </a:xfrm>
          <a:prstGeom prst="rect">
            <a:avLst/>
          </a:prstGeom>
          <a:solidFill>
            <a:srgbClr val="FD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28163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410C"/>
                </a:solidFill>
                <a:latin typeface="Calibri"/>
              </a:rPr>
              <a:t>The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327355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2410C"/>
                </a:solidFill>
                <a:latin typeface="Calibri"/>
              </a:rPr>
              <a:t>A named programme with published numbers, placed where competitors put discount percentages. Ten brands have left this lane to one competitor who is not defending it with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4515F"/>
                </a:solidFill>
                <a:latin typeface="Calibri"/>
              </a:rPr>
              <a:t>Spend against runners and gym training, not the everyday athleisure block where lululemon, Vuori and Fabletics are stacked.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WHAT WE GOT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Our first answer was confident and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2410C"/>
                </a:solidFill>
                <a:latin typeface="Calibri"/>
              </a:rPr>
              <a:t>At 42 ads we concluded three brands cited no proof at all. That was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33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7482"/>
                </a:solidFill>
                <a:latin typeface="Calibri"/>
              </a:rP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334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7482"/>
                </a:solidFill>
                <a:latin typeface="Calibri"/>
              </a:rPr>
              <a:t>WHAT WE SAID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6334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7482"/>
                </a:solidFill>
                <a:latin typeface="Calibri"/>
              </a:rPr>
              <a:t>WHAT THEY ACTUALLY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580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Vuori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358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697482"/>
                </a:solidFill>
                <a:latin typeface="Calibri"/>
              </a:rPr>
              <a:t>“The biggest proof gap in the group”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0358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2410C"/>
                </a:solidFill>
                <a:latin typeface="Calibri"/>
              </a:rPr>
              <a:t>4.6 from 13,593 reviews, 100% product guarantee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75887"/>
            <a:ext cx="10911535" cy="7315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1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Gymshark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822191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697482"/>
                </a:solidFill>
                <a:latin typeface="Calibri"/>
              </a:rPr>
              <a:t>“Free returns only”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822191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2410C"/>
                </a:solidFill>
                <a:latin typeface="Calibri"/>
              </a:rPr>
              <a:t>4.6 from 200 reviews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62272"/>
            <a:ext cx="10911535" cy="7315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0857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lululemon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608576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697482"/>
                </a:solidFill>
                <a:latin typeface="Calibri"/>
              </a:rPr>
              <a:t>“Fabric adjectives only”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608576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2410C"/>
                </a:solidFill>
                <a:latin typeface="Calibri"/>
              </a:rPr>
              <a:t>Three separate ratings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48656"/>
            <a:ext cx="10911535" cy="7315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515F"/>
                </a:solidFill>
                <a:latin typeface="Calibri"/>
              </a:rPr>
              <a:t>The Transparency Center shows four ads until you click “See all ads.” We went back and collected the full lists. Then a teammate audited every tag and found 42 more errors, including in our own headline count. All corrected before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mbria"/>
              </a:rPr>
              <a:t>Five things the workbook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9339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2410C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965960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The bottleneck was collection, not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98424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4515F"/>
                </a:solidFill>
                <a:latin typeface="Calibri"/>
              </a:rPr>
              <a:t>Classifying 101 ads took ninety seconds. Collecting them took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2410C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8072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A shallow sample gives a confident wrong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825496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4515F"/>
                </a:solidFill>
                <a:latin typeface="Calibri"/>
              </a:rPr>
              <a:t>Not a vague one. That is far more dangerous.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758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2410C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648456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Model output drifts unless you freeze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66744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4515F"/>
                </a:solidFill>
                <a:latin typeface="Calibri"/>
              </a:rPr>
              <a:t>Two runs on identical data moved 14 tags and rewrote the headline.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171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2410C"/>
                </a:solidFill>
                <a:latin typeface="Cambr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489704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Most search advertising is not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507992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4515F"/>
                </a:solidFill>
                <a:latin typeface="Calibri"/>
              </a:rPr>
              <a:t>Only 16 of 101 ads were brand-level. The rest is product feed.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5838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2410C"/>
                </a:solidFill>
                <a:latin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533095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The valuable output was the empty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34924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4515F"/>
                </a:solidFill>
                <a:latin typeface="Calibri"/>
              </a:rPr>
              <a:t>Every recommendation came from what nobody said.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607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sz="3800" b="1" i="0">
                <a:solidFill>
                  <a:srgbClr val="1F2933"/>
                </a:solidFill>
                <a:latin typeface="Cambria"/>
              </a:rPr>
              <a:t>Everyone is selling the same fabric.</a:t>
            </a:r>
          </a:p>
          <a:p>
            <a:pPr algn="l">
              <a:lnSpc>
                <a:spcPts val="4600"/>
              </a:lnSpc>
            </a:pPr>
            <a:r>
              <a:rPr sz="3800" b="1" i="0">
                <a:solidFill>
                  <a:srgbClr val="1F2933"/>
                </a:solidFill>
                <a:latin typeface="Cambria"/>
              </a:rPr>
              <a:t>Nobody is selling belonging with proof.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86200"/>
            <a:ext cx="137160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  <a:latin typeface="Calibri"/>
              </a:rPr>
              <a:t>That is the 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97482"/>
                </a:solidFill>
                <a:latin typeface="Calibri"/>
              </a:rPr>
              <a:t>Workbook, data, tagging and full write-up: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13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github.com/spdooley5949/Creative-Teardown-Marketing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97482"/>
                </a:solidFill>
                <a:latin typeface="Calibri"/>
              </a:rPr>
              <a:t>Shane Dooley   ·   with Andrew Silver, Catherine Chambers, Jessica Smith, Jesse Padilla and William Levine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