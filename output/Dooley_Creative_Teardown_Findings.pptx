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ads</c:v>
                </c:pt>
              </c:strCache>
            </c:strRef>
          </c:tx>
          <c:dPt>
            <c:idx val="0"/>
            <c:spPr>
              <a:solidFill>
                <a:srgbClr val="E8562A"/>
              </a:solidFill>
            </c:spPr>
          </c:dPt>
          <c:dPt>
            <c:idx val="1"/>
            <c:spPr>
              <a:solidFill>
                <a:srgbClr val="6B7280"/>
              </a:solidFill>
            </c:spPr>
          </c:dPt>
          <c:dPt>
            <c:idx val="2"/>
            <c:spPr>
              <a:solidFill>
                <a:srgbClr val="6B7280"/>
              </a:solidFill>
            </c:spPr>
          </c:dPt>
          <c:dPt>
            <c:idx val="3"/>
            <c:spPr>
              <a:solidFill>
                <a:srgbClr val="6B7280"/>
              </a:solidFill>
            </c:spPr>
          </c:dPt>
          <c:dPt>
            <c:idx val="4"/>
            <c:spPr>
              <a:solidFill>
                <a:srgbClr val="14181C"/>
              </a:solidFill>
            </c:spPr>
          </c:dPt>
          <c:dPt>
            <c:idx val="5"/>
            <c:spPr>
              <a:solidFill>
                <a:srgbClr val="14181C"/>
              </a:solidFill>
            </c:spPr>
          </c:dPt>
          <c:dPt>
            <c:idx val="6"/>
            <c:spPr>
              <a:solidFill>
                <a:srgbClr val="14181C"/>
              </a:solidFill>
            </c:spPr>
          </c:dPt>
          <c:dPt>
            <c:idx val="7"/>
            <c:spPr>
              <a:solidFill>
                <a:srgbClr val="14181C"/>
              </a:solidFill>
            </c:spPr>
          </c:dPt>
          <c:cat>
            <c:strRef>
              <c:f>Sheet1!$A$2:$A$9</c:f>
              <c:strCache>
                <c:ptCount val="8"/>
                <c:pt idx="0">
                  <c:v>Community</c:v>
                </c:pt>
                <c:pt idx="1">
                  <c:v>Sustainability</c:v>
                </c:pt>
                <c:pt idx="2">
                  <c:v>Price / Value</c:v>
                </c:pt>
                <c:pt idx="3">
                  <c:v>Innovation</c:v>
                </c:pt>
                <c:pt idx="4">
                  <c:v>Style</c:v>
                </c:pt>
                <c:pt idx="5">
                  <c:v>Versatility</c:v>
                </c:pt>
                <c:pt idx="6">
                  <c:v>Comfort</c:v>
                </c:pt>
                <c:pt idx="7">
                  <c:v>Performance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</c:v>
                </c:pt>
                <c:pt idx="1">
                  <c:v>9</c:v>
                </c:pt>
                <c:pt idx="2">
                  <c:v>15</c:v>
                </c:pt>
                <c:pt idx="3">
                  <c:v>16</c:v>
                </c:pt>
                <c:pt idx="4">
                  <c:v>37</c:v>
                </c:pt>
                <c:pt idx="5">
                  <c:v>53</c:v>
                </c:pt>
                <c:pt idx="6">
                  <c:v>58</c:v>
                </c:pt>
                <c:pt idx="7">
                  <c:v>59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14181C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8DBE0"/>
            </a:solidFill>
          </a:ln>
        </c:spPr>
        <c:txPr>
          <a:bodyPr/>
          <a:lstStyle/>
          <a:p>
            <a:pPr>
              <a:defRPr sz="1300">
                <a:solidFill>
                  <a:srgbClr val="14181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minutes. Open on the finding, not an agenda. Twelve fitness apparel brands, what they are actually saying in Google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here. Three saturated claims, then the cliff. Do not explain method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If asked: no date filter was applied, so this is every text ad the Transparency Center listed that day, not a verified set of live ads. Does not change the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shape is the argument. Four crowded claims, then a cliff. Community in orange is where the deck is heading.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Arguably the stronger finding. Ratings are the category default proof, which makes review volume a competitive asset rather than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Hostile question to expect: why has Gymshark not already won this? Answer: they treat it as voice, not proof. Nobody publishes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skip this. Showing you caught your own false finding is the most credible thing in the deck and it inoculates you against anyone who checks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analytical section. These transfer to any competitive research, which is the point for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on the lane, then take questions. Ready answers: how do you know the tags are right; why only Google search; why is Patagonia only three ads; isn't community just Gymshark's brand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25880"/>
            <a:ext cx="8229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8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Twelve brands.</a:t>
            </a:r>
          </a:p>
          <a:p>
            <a:pPr algn="l">
              <a:lnSpc>
                <a:spcPts val="58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One message.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94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AB0B8"/>
                </a:solidFill>
                <a:latin typeface="Calibri"/>
              </a:rPr>
              <a:t>A creative teardown of what fitness apparel actually says in paid 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0"/>
            <a:ext cx="1371600" cy="36576"/>
          </a:xfrm>
          <a:prstGeom prst="rect">
            <a:avLst/>
          </a:prstGeom>
          <a:solidFill>
            <a:srgbClr val="E8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828032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F7A4D"/>
                </a:solidFill>
                <a:latin typeface="Calibri"/>
              </a:rPr>
              <a:t>101 text ads   ·   12 brands   ·   listed 12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Shane Dooley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099"/>
                </a:solidFill>
                <a:latin typeface="Calibri"/>
              </a:rPr>
              <a:t>with Andrew Silver, Catherine Chambers, Jessica Smith, Jesse Padilla and William Levine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562A"/>
                </a:solidFill>
                <a:latin typeface="Calibri"/>
              </a:rPr>
              <a:t>THE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81C"/>
                </a:solidFill>
                <a:latin typeface="Cambria"/>
              </a:rPr>
              <a:t>The category has run out of ways to say “comfortable”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48840"/>
            <a:ext cx="2560320" cy="233172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2395728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14181C"/>
                </a:solidFill>
                <a:latin typeface="Cambria"/>
              </a:rPr>
              <a:t>59%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49300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claim technical</a:t>
            </a:r>
          </a:p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performance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2148840"/>
            <a:ext cx="2560320" cy="233172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1" y="2395728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14181C"/>
                </a:solidFill>
                <a:latin typeface="Cambria"/>
              </a:rPr>
              <a:t>58%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1" y="349300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claim comfort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2148840"/>
            <a:ext cx="2560320" cy="233172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395728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14181C"/>
                </a:solidFill>
                <a:latin typeface="Cambria"/>
              </a:rPr>
              <a:t>53%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49300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claim gym-to-street</a:t>
            </a:r>
          </a:p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versatility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24544" y="2148840"/>
            <a:ext cx="2560320" cy="2331720"/>
          </a:xfrm>
          <a:prstGeom prst="rect">
            <a:avLst/>
          </a:prstGeom>
          <a:solidFill>
            <a:srgbClr val="FD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62288" y="2395728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E8562A"/>
                </a:solidFill>
                <a:latin typeface="Cambria"/>
              </a:rPr>
              <a:t>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349300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562A"/>
                </a:solidFill>
                <a:latin typeface="Calibri"/>
              </a:rPr>
              <a:t>claim community</a:t>
            </a:r>
          </a:p>
          <a:p>
            <a:pPr algn="l"/>
            <a:r>
              <a:rPr sz="1300" b="0" i="0">
                <a:solidFill>
                  <a:srgbClr val="E8562A"/>
                </a:solidFill>
                <a:latin typeface="Calibri"/>
              </a:rPr>
              <a:t>or belonging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4181C"/>
                </a:solidFill>
                <a:latin typeface="Calibri"/>
              </a:rPr>
              <a:t>Across all twelve brands the language is near-interchangeable: “buttery soft,” “built to move in,” “looks as good as it feels.”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562A"/>
                </a:solidFill>
                <a:latin typeface="Calibri"/>
              </a:rPr>
              <a:t>Community and belonging is five ads in the entire 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562A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81C"/>
                </a:solidFill>
                <a:latin typeface="Cambria"/>
              </a:rPr>
              <a:t>101 text ads, twelve brands, one grid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2121408"/>
            <a:ext cx="457200" cy="457200"/>
          </a:xfrm>
          <a:prstGeom prst="ellipse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03703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1031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81C"/>
                </a:solidFill>
                <a:latin typeface="Calibri"/>
              </a:rPr>
              <a:t>Collect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103120"/>
            <a:ext cx="8458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Every search text ad the Google Ads Transparency Center listed for each brand on 12 August, transcribed by hand. Public source, no login, no scraping.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310128"/>
            <a:ext cx="457200" cy="457200"/>
          </a:xfrm>
          <a:prstGeom prst="ellipse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92424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32918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81C"/>
                </a:solidFill>
                <a:latin typeface="Calibri"/>
              </a:rPr>
              <a:t>Classify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291840"/>
            <a:ext cx="8458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Claude tags each ad by claim theme, audience, ad type and any concrete proof it cites. Tags are frozen to a file so numbers reproduce exactly.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498848"/>
            <a:ext cx="457200" cy="457200"/>
          </a:xfrm>
          <a:prstGeom prst="ellipse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81144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4805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81C"/>
                </a:solidFill>
                <a:latin typeface="Calibri"/>
              </a:rPr>
              <a:t>Assemble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480560"/>
            <a:ext cx="8458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Counts roll into a matrix as a percent of each brand’s ads, so brands sampled at different depths stay comparable.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42432"/>
            <a:ext cx="10911535" cy="658368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897880"/>
            <a:ext cx="1039947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lululemon 18  ·  On 12  ·  Arc’teryx 12  ·  Vuori 10  ·  Gymshark 10  ·  Alo Yoga 9  ·  Nike 8  ·  Under Armour 7  ·  Tracksmith 4  ·  New Balance 4  ·  Fabletics 4  ·  Patagonia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562A"/>
                </a:solidFill>
                <a:latin typeface="Calibr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81C"/>
                </a:solidFill>
                <a:latin typeface="Cambria"/>
              </a:rPr>
              <a:t>Where the category is stacked, and where it is not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965960"/>
          <a:ext cx="10911535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978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Percent of all 101 ads using each claim theme. An ad can carry more than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562A"/>
                </a:solidFill>
                <a:latin typeface="Calibri"/>
              </a:rPr>
              <a:t>THE SECOND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81C"/>
                </a:solidFill>
                <a:latin typeface="Cambria"/>
              </a:rPr>
              <a:t>Six in ten ads make a claim and prove nothing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5029200" cy="269748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E8562A"/>
                </a:solidFill>
                <a:latin typeface="Cambria"/>
              </a:rP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1188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4181C"/>
                </a:solidFill>
                <a:latin typeface="Calibri"/>
              </a:rPr>
              <a:t>of ads cite no rating, guarantee, statistic or offer of any kind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81C"/>
                </a:solidFill>
                <a:latin typeface="Calibri"/>
              </a:rPr>
              <a:t>Where proof does appear, it is wildly uneven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60604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4181C"/>
                </a:solidFill>
                <a:latin typeface="Calibri"/>
              </a:rPr>
              <a:t>Alo Yoga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6060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6B7280"/>
                </a:solidFill>
                <a:latin typeface="Calibri"/>
              </a:rPr>
              <a:t>21,615 reviews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907792"/>
            <a:ext cx="5120640" cy="9144"/>
          </a:xfrm>
          <a:prstGeom prst="rect">
            <a:avLst/>
          </a:prstGeom>
          <a:solidFill>
            <a:srgbClr val="D8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7180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4181C"/>
                </a:solidFill>
                <a:latin typeface="Calibri"/>
              </a:rPr>
              <a:t>Vuori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97180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6B7280"/>
                </a:solidFill>
                <a:latin typeface="Calibri"/>
              </a:rPr>
              <a:t>13,593 reviews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273552"/>
            <a:ext cx="5120640" cy="9144"/>
          </a:xfrm>
          <a:prstGeom prst="rect">
            <a:avLst/>
          </a:prstGeom>
          <a:solidFill>
            <a:srgbClr val="D8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33756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4181C"/>
                </a:solidFill>
                <a:latin typeface="Calibri"/>
              </a:rPr>
              <a:t>Nike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33756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6B7280"/>
                </a:solidFill>
                <a:latin typeface="Calibri"/>
              </a:rPr>
              <a:t>6,660 reviews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639312"/>
            <a:ext cx="5120640" cy="9144"/>
          </a:xfrm>
          <a:prstGeom prst="rect">
            <a:avLst/>
          </a:prstGeom>
          <a:solidFill>
            <a:srgbClr val="D8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70332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4181C"/>
                </a:solidFill>
                <a:latin typeface="Calibri"/>
              </a:rPr>
              <a:t>Under Armour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70332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6B7280"/>
                </a:solidFill>
                <a:latin typeface="Calibri"/>
              </a:rPr>
              <a:t>305 reviews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005072"/>
            <a:ext cx="5120640" cy="9144"/>
          </a:xfrm>
          <a:prstGeom prst="rect">
            <a:avLst/>
          </a:prstGeom>
          <a:solidFill>
            <a:srgbClr val="D8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06908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562A"/>
                </a:solidFill>
                <a:latin typeface="Calibri"/>
              </a:rPr>
              <a:t>Arc’teryx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406908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E8562A"/>
                </a:solidFill>
                <a:latin typeface="Calibri"/>
              </a:rPr>
              <a:t>24 reviews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370832"/>
            <a:ext cx="5120640" cy="9144"/>
          </a:xfrm>
          <a:prstGeom prst="rect">
            <a:avLst/>
          </a:prstGeom>
          <a:solidFill>
            <a:srgbClr val="D8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43484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562A"/>
                </a:solidFill>
                <a:latin typeface="Calibri"/>
              </a:rPr>
              <a:t>Tracksmith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434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E8562A"/>
                </a:solidFill>
                <a:latin typeface="Calibri"/>
              </a:rPr>
              <a:t>22 reviews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736592"/>
            <a:ext cx="5120640" cy="9144"/>
          </a:xfrm>
          <a:prstGeom prst="rect">
            <a:avLst/>
          </a:prstGeom>
          <a:solidFill>
            <a:srgbClr val="D8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81C"/>
                </a:solidFill>
                <a:latin typeface="Calibri"/>
              </a:rPr>
              <a:t>A premium brand advertising on 22 reviews is not using proof. It is exposing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562A"/>
                </a:solidFill>
                <a:latin typeface="Calibri"/>
              </a:rPr>
              <a:t>THE 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81C"/>
                </a:solidFill>
                <a:latin typeface="Cambria"/>
              </a:rPr>
              <a:t>Nobody has made belonging measurable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3852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E8562A"/>
                </a:solidFill>
                <a:latin typeface="Calibri"/>
              </a:rPr>
              <a:t>Community is not unclaimed. It is unproven.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578608"/>
            <a:ext cx="3429000" cy="256032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81635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81C"/>
                </a:solidFill>
                <a:latin typeface="Calibri"/>
              </a:rPr>
              <a:t>What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73552"/>
            <a:ext cx="28803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Gymshark runs couch-to-5K and half-marathon coaching. Alo has a membership tier. Tracksmith sells Boston running heritage.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2578608"/>
            <a:ext cx="3429000" cy="256032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281635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81C"/>
                </a:solidFill>
                <a:latin typeface="Calibri"/>
              </a:rPr>
              <a:t>What is missing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3273552"/>
            <a:ext cx="28803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Not one publishes a participation number, a completion rate or a member count. Belonging is tone of voice, not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1855" y="2578608"/>
            <a:ext cx="3429000" cy="2560320"/>
          </a:xfrm>
          <a:prstGeom prst="rect">
            <a:avLst/>
          </a:prstGeom>
          <a:solidFill>
            <a:srgbClr val="FD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281635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562A"/>
                </a:solidFill>
                <a:latin typeface="Calibri"/>
              </a:rPr>
              <a:t>The move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3273552"/>
            <a:ext cx="28803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8C3A1B"/>
                </a:solidFill>
                <a:latin typeface="Calibri"/>
              </a:rPr>
              <a:t>A named programme with published numbers, placed where competitors put discount percentages. The one claim a rival cannot copy by reformulating a fabric.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4181C"/>
                </a:solidFill>
                <a:latin typeface="Calibri"/>
              </a:rPr>
              <a:t>Spend against runners and gym training, not the everyday athleisure block where lululemon, Vuori and Fabletics are stacked.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7A4D"/>
                </a:solidFill>
                <a:latin typeface="Calibri"/>
              </a:rPr>
              <a:t>WHAT WE GOT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Our first answer was confident and false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FF7A4D"/>
                </a:solidFill>
                <a:latin typeface="Calibri"/>
              </a:rPr>
              <a:t>At 42 ads we concluded three brands cited no proof at all. That was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334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828C"/>
                </a:solidFill>
                <a:latin typeface="Calibri"/>
              </a:rPr>
              <a:t>Brand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334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828C"/>
                </a:solidFill>
                <a:latin typeface="Calibri"/>
              </a:rPr>
              <a:t>What we said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63347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828C"/>
                </a:solidFill>
                <a:latin typeface="Calibri"/>
              </a:rPr>
              <a:t>What they actually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580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Vuori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0358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9BA3AD"/>
                </a:solidFill>
                <a:latin typeface="Calibri"/>
              </a:rPr>
              <a:t>“The biggest proof gap in the group”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303580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FF7A4D"/>
                </a:solidFill>
                <a:latin typeface="Calibri"/>
              </a:rPr>
              <a:t>4.6 from 13,593 reviews, 100% product guarantee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75887"/>
            <a:ext cx="10911535" cy="9144"/>
          </a:xfrm>
          <a:prstGeom prst="rect">
            <a:avLst/>
          </a:prstGeom>
          <a:solidFill>
            <a:srgbClr val="2C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1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Gymshark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822191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9BA3AD"/>
                </a:solidFill>
                <a:latin typeface="Calibri"/>
              </a:rPr>
              <a:t>“Free returns only”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822191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FF7A4D"/>
                </a:solidFill>
                <a:latin typeface="Calibri"/>
              </a:rPr>
              <a:t>4.6 from 200 reviews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62272"/>
            <a:ext cx="10911535" cy="9144"/>
          </a:xfrm>
          <a:prstGeom prst="rect">
            <a:avLst/>
          </a:prstGeom>
          <a:solidFill>
            <a:srgbClr val="2C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08576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lululemon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608576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9BA3AD"/>
                </a:solidFill>
                <a:latin typeface="Calibri"/>
              </a:rPr>
              <a:t>“Fabric adjectives only”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60857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FF7A4D"/>
                </a:solidFill>
                <a:latin typeface="Calibri"/>
              </a:rPr>
              <a:t>Three separate ratings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48656"/>
            <a:ext cx="10911535" cy="9144"/>
          </a:xfrm>
          <a:prstGeom prst="rect">
            <a:avLst/>
          </a:prstGeom>
          <a:solidFill>
            <a:srgbClr val="2C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62356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BA3AD"/>
                </a:solidFill>
                <a:latin typeface="Calibri"/>
              </a:rPr>
              <a:t>The Transparency Center shows four ads until you click “See all ads.” Those four skew to product listings, which carry no ratings. We went back and collected the full lists.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562A"/>
                </a:solidFill>
                <a:latin typeface="Calibri"/>
              </a:rP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81C"/>
                </a:solidFill>
                <a:latin typeface="Cambria"/>
              </a:rPr>
              <a:t>Five things the workbook does not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93392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8562A"/>
                </a:solidFill>
                <a:latin typeface="Cambr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1965960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81C"/>
                </a:solidFill>
                <a:latin typeface="Calibri"/>
              </a:rPr>
              <a:t>The bottleneck was collection, not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984248"/>
            <a:ext cx="4480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Classifying 101 ads took ninety seconds. Collecting them took hours.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8562A"/>
                </a:solidFill>
                <a:latin typeface="Cambr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807208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81C"/>
                </a:solidFill>
                <a:latin typeface="Calibri"/>
              </a:rPr>
              <a:t>A shallow sample gives a confident wrong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25496"/>
            <a:ext cx="4480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Not a vague one. That is far more dangerous.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7588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8562A"/>
                </a:solidFill>
                <a:latin typeface="Cambria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648456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81C"/>
                </a:solidFill>
                <a:latin typeface="Calibri"/>
              </a:rPr>
              <a:t>Model output drifts unless you freeze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66744"/>
            <a:ext cx="4480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Two runs on identical data moved 14 tags and rewrote the headline.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17136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8562A"/>
                </a:solidFill>
                <a:latin typeface="Cambria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489704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81C"/>
                </a:solidFill>
                <a:latin typeface="Calibri"/>
              </a:rPr>
              <a:t>Most search advertising is not positioning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507992"/>
            <a:ext cx="4480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Only 16 of 101 ads were brand-level. The rest is product feed.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58384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8562A"/>
                </a:solidFill>
                <a:latin typeface="Cambria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5330952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81C"/>
                </a:solidFill>
                <a:latin typeface="Calibri"/>
              </a:rPr>
              <a:t>The valuable output was the empty column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5349240"/>
            <a:ext cx="4480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Every recommendation came from what nobody said.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783080"/>
            <a:ext cx="106070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6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Everyone is selling the same fabric.</a:t>
            </a:r>
          </a:p>
          <a:p>
            <a:pPr algn="l">
              <a:lnSpc>
                <a:spcPts val="46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Nobody is selling belonging with proof.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40480"/>
            <a:ext cx="1371600" cy="36576"/>
          </a:xfrm>
          <a:prstGeom prst="rect">
            <a:avLst/>
          </a:prstGeom>
          <a:solidFill>
            <a:srgbClr val="E8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7A4D"/>
                </a:solidFill>
                <a:latin typeface="Calibri"/>
              </a:rPr>
              <a:t>That is the lane.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74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A828C"/>
                </a:solidFill>
                <a:latin typeface="Calibri"/>
              </a:rPr>
              <a:t>Workbook, data, tagging and full write-up: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6752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github.com/spdooley5949/Creative-Teardown-Marketing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Shane Dooley   ·   with Andrew Silver, Catherine Chambers, Jessica Smith, Jesse Padilla and William Levine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