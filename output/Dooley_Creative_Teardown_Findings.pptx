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ads</c:v>
                </c:pt>
              </c:strCache>
            </c:strRef>
          </c:tx>
          <c:dPt>
            <c:idx val="0"/>
            <c:spPr>
              <a:solidFill>
                <a:srgbClr val="E8562A"/>
              </a:solidFill>
            </c:spPr>
          </c:dPt>
          <c:dPt>
            <c:idx val="1"/>
            <c:spPr>
              <a:solidFill>
                <a:srgbClr val="6B7280"/>
              </a:solidFill>
            </c:spPr>
          </c:dPt>
          <c:dPt>
            <c:idx val="2"/>
            <c:spPr>
              <a:solidFill>
                <a:srgbClr val="6B7280"/>
              </a:solidFill>
            </c:spPr>
          </c:dPt>
          <c:dPt>
            <c:idx val="3"/>
            <c:spPr>
              <a:solidFill>
                <a:srgbClr val="6B7280"/>
              </a:solidFill>
            </c:spPr>
          </c:dPt>
          <c:dPt>
            <c:idx val="4"/>
            <c:spPr>
              <a:solidFill>
                <a:srgbClr val="14181C"/>
              </a:solidFill>
            </c:spPr>
          </c:dPt>
          <c:dPt>
            <c:idx val="5"/>
            <c:spPr>
              <a:solidFill>
                <a:srgbClr val="14181C"/>
              </a:solidFill>
            </c:spPr>
          </c:dPt>
          <c:dPt>
            <c:idx val="6"/>
            <c:spPr>
              <a:solidFill>
                <a:srgbClr val="14181C"/>
              </a:solidFill>
            </c:spPr>
          </c:dPt>
          <c:dPt>
            <c:idx val="7"/>
            <c:spPr>
              <a:solidFill>
                <a:srgbClr val="14181C"/>
              </a:solidFill>
            </c:spPr>
          </c:dPt>
          <c:cat>
            <c:strRef>
              <c:f>Sheet1!$A$2:$A$9</c:f>
              <c:strCache>
                <c:ptCount val="8"/>
                <c:pt idx="0">
                  <c:v>Community</c:v>
                </c:pt>
                <c:pt idx="1">
                  <c:v>Sustainability</c:v>
                </c:pt>
                <c:pt idx="2">
                  <c:v>Price / Value</c:v>
                </c:pt>
                <c:pt idx="3">
                  <c:v>Innovation</c:v>
                </c:pt>
                <c:pt idx="4">
                  <c:v>Style</c:v>
                </c:pt>
                <c:pt idx="5">
                  <c:v>Versatility</c:v>
                </c:pt>
                <c:pt idx="6">
                  <c:v>Comfort</c:v>
                </c:pt>
                <c:pt idx="7">
                  <c:v>Performance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9</c:v>
                </c:pt>
                <c:pt idx="2">
                  <c:v>15</c:v>
                </c:pt>
                <c:pt idx="3">
                  <c:v>16</c:v>
                </c:pt>
                <c:pt idx="4">
                  <c:v>37</c:v>
                </c:pt>
                <c:pt idx="5">
                  <c:v>53</c:v>
                </c:pt>
                <c:pt idx="6">
                  <c:v>58</c:v>
                </c:pt>
                <c:pt idx="7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4181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DBE0"/>
            </a:solidFill>
          </a:ln>
        </c:spPr>
        <c:txPr>
          <a:bodyPr/>
          <a:lstStyle/>
          <a:p>
            <a:pPr>
              <a:defRPr sz="1300">
                <a:solidFill>
                  <a:srgbClr val="14181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Open on the finding, not an agenda. Twelve fitness apparel brands, what they are actually saying in Google search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here. Three saturated claims, then the cliff. Do not explain method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seconds. The point is the data is real and current, not that the method is clever.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shape is the argument. Four crowded claims, then a cliff. Community in orange is where the deck is heading.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Arguably the stronger finding. Ratings are the category default proof, which makes review volume a competitive asset rather than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Hostile question to expect: why has Gymshark not already won this? Answer: they treat it as voice, not proof. Nobody publishes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Showing you caught your own false finding is the most credible thing in the deck and it inoculates you against anyone who checks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analytical section. These transfer to any competitive research, which is the point for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lane, then take questions. Ready answers: how do you know the tags are right; why only Google search; why is Patagonia only three ads; isn't community just Gymshark's brand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8229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Twelve brands.</a:t>
            </a:r>
          </a:p>
          <a:p>
            <a:pPr algn="l">
              <a:lnSpc>
                <a:spcPts val="58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One message.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94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AB0B8"/>
                </a:solidFill>
                <a:latin typeface="Calibri"/>
              </a:rPr>
              <a:t>A creative teardown of what fitness apparel actually says in paid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572000"/>
            <a:ext cx="1371600" cy="36576"/>
          </a:xfrm>
          <a:prstGeom prst="rect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828032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7A4D"/>
                </a:solidFill>
                <a:latin typeface="Calibri"/>
              </a:rPr>
              <a:t>101 live ads   ·   12 brands   ·   collected 12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Shane Dooley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099"/>
                </a:solidFill>
                <a:latin typeface="Calibri"/>
              </a:rPr>
              <a:t>with Andrew Silver, Catherine Chambers, Jessica Smith, Jesse Padilla and William Levine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The category has run out of ways to say “comfortable”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2560320" cy="23317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4181C"/>
                </a:solidFill>
                <a:latin typeface="Cambria"/>
              </a:rPr>
              <a:t>59%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claim technical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2148840"/>
            <a:ext cx="2560320" cy="23317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1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4181C"/>
                </a:solidFill>
                <a:latin typeface="Cambria"/>
              </a:rPr>
              <a:t>58%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1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claim comfort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2148840"/>
            <a:ext cx="2560320" cy="23317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14181C"/>
                </a:solidFill>
                <a:latin typeface="Cambria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claim gym-to-street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versatility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4544" y="2148840"/>
            <a:ext cx="2560320" cy="2331720"/>
          </a:xfrm>
          <a:prstGeom prst="rect">
            <a:avLst/>
          </a:prstGeom>
          <a:solidFill>
            <a:srgbClr val="F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395728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E8562A"/>
                </a:solidFill>
                <a:latin typeface="Cambria"/>
              </a:rPr>
              <a:t>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49300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562A"/>
                </a:solidFill>
                <a:latin typeface="Calibri"/>
              </a:rPr>
              <a:t>claim community</a:t>
            </a:r>
          </a:p>
          <a:p>
            <a:pPr algn="l"/>
            <a:r>
              <a:rPr sz="1300" b="0" i="0">
                <a:solidFill>
                  <a:srgbClr val="E8562A"/>
                </a:solidFill>
                <a:latin typeface="Calibri"/>
              </a:rPr>
              <a:t>or belonging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181C"/>
                </a:solidFill>
                <a:latin typeface="Calibri"/>
              </a:rPr>
              <a:t>Across all twelve brands the language is near-interchangeable: “buttery soft,” “built to move in,” “looks as good as it feels.”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562A"/>
                </a:solidFill>
                <a:latin typeface="Calibri"/>
              </a:rPr>
              <a:t>Community and belonging is five ads in the entire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101 live ads, twelve brands, one grid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0370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103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81C"/>
                </a:solidFill>
                <a:latin typeface="Calibri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Every current search text ad for each brand, pulled by hand from the Google Ads Transparency Center. Public source, no login, no scraping.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9242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291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81C"/>
                </a:solidFill>
                <a:latin typeface="Calibri"/>
              </a:rPr>
              <a:t>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4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Claude tags each ad by claim theme, audience, ad type and any concrete proof it cites. Tags are frozen to a file so numbers reproduce exactly.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98848"/>
            <a:ext cx="457200" cy="457200"/>
          </a:xfrm>
          <a:prstGeom prst="ellips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8114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480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81C"/>
                </a:solidFill>
                <a:latin typeface="Calibri"/>
              </a:rPr>
              <a:t>Assemble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80560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Counts roll into a matrix as a percent of each brand’s ads, so brands sampled at different depths stay comparable.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42432"/>
            <a:ext cx="10911535" cy="6583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897880"/>
            <a:ext cx="103994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lululemon 18  ·  On 12  ·  Arc’teryx 12  ·  Vuori 10  ·  Gymshark 10  ·  Alo Yoga 9  ·  Nike 8  ·  Under Armour 7  ·  Tracksmith 4  ·  New Balance 4  ·  Fabletics 4  ·  Patagonia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Where the category is stacked, and where it is not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65960"/>
          <a:ext cx="10911535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Percent of all 101 ads using each claim theme. An ad can carry more than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THE SECOND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Six in ten ads make a claim and prove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029200" cy="2697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E8562A"/>
                </a:solidFill>
                <a:latin typeface="Cambria"/>
              </a:rP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181C"/>
                </a:solidFill>
                <a:latin typeface="Calibri"/>
              </a:rPr>
              <a:t>of ads cite no rating, guarantee, statistic or offer of any kind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Where proof does appear, it is wildly uneven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81C"/>
                </a:solidFill>
                <a:latin typeface="Calibri"/>
              </a:rPr>
              <a:t>Alo Yoga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606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Calibri"/>
              </a:rPr>
              <a:t>21,615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90779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81C"/>
                </a:solidFill>
                <a:latin typeface="Calibri"/>
              </a:rPr>
              <a:t>Vuori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9718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Calibri"/>
              </a:rPr>
              <a:t>13,593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27355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81C"/>
                </a:solidFill>
                <a:latin typeface="Calibri"/>
              </a:rPr>
              <a:t>Nike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375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Calibri"/>
              </a:rPr>
              <a:t>6,660 reviews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3931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181C"/>
                </a:solidFill>
                <a:latin typeface="Calibri"/>
              </a:rPr>
              <a:t>Under Armour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03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Calibri"/>
              </a:rPr>
              <a:t>305 reviews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0507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562A"/>
                </a:solidFill>
                <a:latin typeface="Calibri"/>
              </a:rPr>
              <a:t>Arc’teryx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690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E8562A"/>
                </a:solidFill>
                <a:latin typeface="Calibri"/>
              </a:rPr>
              <a:t>24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7083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562A"/>
                </a:solidFill>
                <a:latin typeface="Calibri"/>
              </a:rPr>
              <a:t>Tracksmith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434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E8562A"/>
                </a:solidFill>
                <a:latin typeface="Calibri"/>
              </a:rPr>
              <a:t>22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36592"/>
            <a:ext cx="5120640" cy="9144"/>
          </a:xfrm>
          <a:prstGeom prst="rect">
            <a:avLst/>
          </a:prstGeom>
          <a:solidFill>
            <a:srgbClr val="D8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A premium brand advertising on 22 reviews is not using proof. It is exposing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THE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Nobody has made belonging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8562A"/>
                </a:solidFill>
                <a:latin typeface="Calibri"/>
              </a:rPr>
              <a:t>Community is not unclaimed. It is unproven.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78608"/>
            <a:ext cx="3429000" cy="2560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What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Gymshark runs couch-to-5K and half-marathon coaching. Alo has a membership tier. Tracksmith sells Boston running heritage.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2578608"/>
            <a:ext cx="3429000" cy="2560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What is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Not one publishes a participation number, a completion rate or a member count. Belonging is tone of voice, not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5" y="2578608"/>
            <a:ext cx="3429000" cy="2560320"/>
          </a:xfrm>
          <a:prstGeom prst="rect">
            <a:avLst/>
          </a:prstGeom>
          <a:solidFill>
            <a:srgbClr val="FD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28163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562A"/>
                </a:solidFill>
                <a:latin typeface="Calibri"/>
              </a:rPr>
              <a:t>The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327355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8C3A1B"/>
                </a:solidFill>
                <a:latin typeface="Calibri"/>
              </a:rPr>
              <a:t>A named programme with published numbers, placed where competitors put discount percentages. The one claim a rival cannot copy by reformulating a fabric.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181C"/>
                </a:solidFill>
                <a:latin typeface="Calibri"/>
              </a:rPr>
              <a:t>Spend against runners and gym training, not the everyday athleisure block where lululemon, Vuori and Fabletics are stacked.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4D"/>
                </a:solidFill>
                <a:latin typeface="Calibri"/>
              </a:rPr>
              <a:t>WHAT WE GOT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Our first answer was confident and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F7A4D"/>
                </a:solidFill>
                <a:latin typeface="Calibri"/>
              </a:rPr>
              <a:t>At 42 ads we concluded three brands cited no proof at all. That was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33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28C"/>
                </a:solidFill>
                <a:latin typeface="Calibr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334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28C"/>
                </a:solidFill>
                <a:latin typeface="Calibri"/>
              </a:rPr>
              <a:t>What we said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6334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28C"/>
                </a:solidFill>
                <a:latin typeface="Calibri"/>
              </a:rPr>
              <a:t>What they actually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Vuori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358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9BA3AD"/>
                </a:solidFill>
                <a:latin typeface="Calibri"/>
              </a:rPr>
              <a:t>“The biggest proof gap in the group”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0358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F7A4D"/>
                </a:solidFill>
                <a:latin typeface="Calibri"/>
              </a:rPr>
              <a:t>4.6 from 13,593 reviews, 100% product guarantee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75887"/>
            <a:ext cx="10911535" cy="9144"/>
          </a:xfrm>
          <a:prstGeom prst="rect">
            <a:avLst/>
          </a:prstGeom>
          <a:solidFill>
            <a:srgbClr val="2C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1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Gymshark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82219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9BA3AD"/>
                </a:solidFill>
                <a:latin typeface="Calibri"/>
              </a:rPr>
              <a:t>“Free returns only”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822191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F7A4D"/>
                </a:solidFill>
                <a:latin typeface="Calibri"/>
              </a:rPr>
              <a:t>4.6 from 200 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62272"/>
            <a:ext cx="10911535" cy="9144"/>
          </a:xfrm>
          <a:prstGeom prst="rect">
            <a:avLst/>
          </a:prstGeom>
          <a:solidFill>
            <a:srgbClr val="2C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0857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lululemon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608576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9BA3AD"/>
                </a:solidFill>
                <a:latin typeface="Calibri"/>
              </a:rPr>
              <a:t>“Fabric adjectives only”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60857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F7A4D"/>
                </a:solidFill>
                <a:latin typeface="Calibri"/>
              </a:rPr>
              <a:t>Three separate ratings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48656"/>
            <a:ext cx="10911535" cy="9144"/>
          </a:xfrm>
          <a:prstGeom prst="rect">
            <a:avLst/>
          </a:prstGeom>
          <a:solidFill>
            <a:srgbClr val="2C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BA3AD"/>
                </a:solidFill>
                <a:latin typeface="Calibri"/>
              </a:rPr>
              <a:t>The Transparency Center shows four ads until you click “See all ads.” Those four skew to product listings, which carry no ratings. We went back and collected the full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562A"/>
                </a:solidFill>
                <a:latin typeface="Calibri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81C"/>
                </a:solidFill>
                <a:latin typeface="Cambria"/>
              </a:rPr>
              <a:t>Five things the workbook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9339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562A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96596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The bottleneck was collection, not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98424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Classifying 101 ads took ninety seconds. Collecting them took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562A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8072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A shallow sample gives a confident wrong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25496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Not a vague one. That is far more dangerous.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562A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48456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Model output drifts unless you freeze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6674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Two runs on identical data moved 14 tags and rewrote the headline.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171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562A"/>
                </a:solidFill>
                <a:latin typeface="Cambr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489704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Most search advertising is not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0799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Only 16 of 101 ads were brand-level. The rest is product feed.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583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562A"/>
                </a:solidFill>
                <a:latin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533095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181C"/>
                </a:solidFill>
                <a:latin typeface="Calibri"/>
              </a:rPr>
              <a:t>The valuable output was the empty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34924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Every recommendation came from what nobody said.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83080"/>
            <a:ext cx="10607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Everyone is selling the same fabric.</a:t>
            </a:r>
          </a:p>
          <a:p>
            <a:pPr algn="l">
              <a:lnSpc>
                <a:spcPts val="46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Nobody is selling belonging with proof.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0"/>
            <a:ext cx="1371600" cy="36576"/>
          </a:xfrm>
          <a:prstGeom prst="rect">
            <a:avLst/>
          </a:prstGeom>
          <a:solidFill>
            <a:srgbClr val="E85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7A4D"/>
                </a:solidFill>
                <a:latin typeface="Calibri"/>
              </a:rPr>
              <a:t>That is the 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74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A828C"/>
                </a:solidFill>
                <a:latin typeface="Calibri"/>
              </a:rPr>
              <a:t>Workbook, data, tagging and full write-up: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6752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github.com/spdooley5949/Creative-Teardown-Marketing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Shane Dooley   ·   with Andrew Silver, Catherine Chambers, Jessica Smith, Jesse Padilla and William Levine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